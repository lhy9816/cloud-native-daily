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61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0">
                <a:solidFill>
                  <a:srgbClr val="FFFFFF"/>
                </a:solidFill>
                <a:latin typeface="Noto Sans SC"/>
              </a:defRPr>
            </a:pPr>
            <a:r>
              <a:t>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61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Noto Sans SC"/>
              </a:defRPr>
            </a:pPr>
            <a:r>
              <a:t>云原生每日要闻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00400"/>
            <a:ext cx="1216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solidFill>
                  <a:srgbClr val="8B949E"/>
                </a:solidFill>
                <a:latin typeface="Noto Sans SC"/>
              </a:defRPr>
            </a:pPr>
            <a:r>
              <a:t>Kubernetes 调度 × AI 推理 · 深度解读版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840480"/>
            <a:ext cx="1216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555555"/>
                </a:solidFill>
                <a:latin typeface="Noto Sans SC"/>
              </a:defRPr>
            </a:pPr>
            <a:r>
              <a:t>2026 年 4 月 6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📋 今日 7 条深度要闻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2697480" cy="1737360"/>
          </a:xfrm>
          <a:prstGeom prst="roundRect">
            <a:avLst/>
          </a:prstGeom>
          <a:solidFill>
            <a:srgbClr val="1C2333"/>
          </a:solidFill>
          <a:ln w="12700">
            <a:solidFill>
              <a:srgbClr val="30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Noto Sans SC"/>
              </a:defRPr>
            </a:pPr>
            <a:r>
              <a:t>📦 K8s v1.36 前瞻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2423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Noto Sans SC"/>
              </a:defRPr>
            </a:pPr>
            <a:r>
              <a:t>Ingress NGINX 退役、externalIPs 废弃</a:t>
            </a:r>
            <a:br/>
            <a:r>
              <a:t>SELinux GA、DRA 设备 Taint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280160"/>
            <a:ext cx="2697480" cy="1737360"/>
          </a:xfrm>
          <a:prstGeom prst="roundRect">
            <a:avLst/>
          </a:prstGeom>
          <a:solidFill>
            <a:srgbClr val="1C2333"/>
          </a:solidFill>
          <a:ln w="12700">
            <a:solidFill>
              <a:srgbClr val="30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389888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Noto Sans SC"/>
              </a:defRPr>
            </a:pPr>
            <a:r>
              <a:t>🤖 AI 模型分发全链路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783080"/>
            <a:ext cx="2423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Noto Sans SC"/>
              </a:defRPr>
            </a:pPr>
            <a:r>
              <a:t>CNCF 深度分析：</a:t>
            </a:r>
            <a:br/>
            <a:r>
              <a:t>ModelPack + ORAS + Harbor + Dragonfly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2697480" cy="1737360"/>
          </a:xfrm>
          <a:prstGeom prst="roundRect">
            <a:avLst/>
          </a:prstGeom>
          <a:solidFill>
            <a:srgbClr val="1C2333"/>
          </a:solidFill>
          <a:ln w="12700">
            <a:solidFill>
              <a:srgbClr val="30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89888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Noto Sans SC"/>
              </a:defRPr>
            </a:pPr>
            <a:r>
              <a:t>🖥️ KubeVirt v1.8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83080"/>
            <a:ext cx="2423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Noto Sans SC"/>
              </a:defRPr>
            </a:pPr>
            <a:r>
              <a:t>PCIe NUMA 拓扑感知</a:t>
            </a:r>
            <a:br/>
            <a:r>
              <a:t>Hypervisor 抽象层、Intel TDX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1280160"/>
            <a:ext cx="2697480" cy="1737360"/>
          </a:xfrm>
          <a:prstGeom prst="roundRect">
            <a:avLst/>
          </a:prstGeom>
          <a:solidFill>
            <a:srgbClr val="1C2333"/>
          </a:solidFill>
          <a:ln w="12700">
            <a:solidFill>
              <a:srgbClr val="30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1389888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Noto Sans SC"/>
              </a:defRPr>
            </a:pPr>
            <a:r>
              <a:t>🛡️ Kubescape 4.0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1783080"/>
            <a:ext cx="2423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Noto Sans SC"/>
              </a:defRPr>
            </a:pPr>
            <a:r>
              <a:t>运行时检测 GA、KAgent 安全扫描</a:t>
            </a:r>
            <a:br/>
            <a:r>
              <a:t>42 个安全检查点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91840"/>
            <a:ext cx="2697480" cy="1737360"/>
          </a:xfrm>
          <a:prstGeom prst="roundRect">
            <a:avLst/>
          </a:prstGeom>
          <a:solidFill>
            <a:srgbClr val="1C2333"/>
          </a:solidFill>
          <a:ln w="12700">
            <a:solidFill>
              <a:srgbClr val="30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401568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Noto Sans SC"/>
              </a:defRPr>
            </a:pPr>
            <a:r>
              <a:t>🤖 Agent Sandbox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794760"/>
            <a:ext cx="2423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Noto Sans SC"/>
              </a:defRPr>
            </a:pPr>
            <a:r>
              <a:t>SIG Apps 官方项目</a:t>
            </a:r>
            <a:br/>
            <a:r>
              <a:t>gVisor/Kata 隔离、缩放到零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3291840"/>
            <a:ext cx="2697480" cy="1737360"/>
          </a:xfrm>
          <a:prstGeom prst="roundRect">
            <a:avLst/>
          </a:prstGeom>
          <a:solidFill>
            <a:srgbClr val="1C2333"/>
          </a:solidFill>
          <a:ln w="12700">
            <a:solidFill>
              <a:srgbClr val="30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3401568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Noto Sans SC"/>
              </a:defRPr>
            </a:pPr>
            <a:r>
              <a:t>🧪 Lima v2.1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794760"/>
            <a:ext cx="2423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Noto Sans SC"/>
              </a:defRPr>
            </a:pPr>
            <a:r>
              <a:t>macOS/FreeBSD 客户机</a:t>
            </a:r>
            <a:br/>
            <a:r>
              <a:t>--sync AI 沙箱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291840"/>
            <a:ext cx="2697480" cy="1737360"/>
          </a:xfrm>
          <a:prstGeom prst="roundRect">
            <a:avLst/>
          </a:prstGeom>
          <a:solidFill>
            <a:srgbClr val="1C2333"/>
          </a:solidFill>
          <a:ln w="12700">
            <a:solidFill>
              <a:srgbClr val="30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401568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Noto Sans SC"/>
              </a:defRPr>
            </a:pPr>
            <a:r>
              <a:t>🔄 Image Promoter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794760"/>
            <a:ext cx="2423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Noto Sans SC"/>
              </a:defRPr>
            </a:pPr>
            <a:r>
              <a:t>9 阶段渐进式重写</a:t>
            </a:r>
            <a:br/>
            <a:r>
              <a:t>删除 20% 代码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📦 K8s v1.36 Breaking Changes 详解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47120" cy="1280160"/>
          </a:xfrm>
          <a:prstGeom prst="roundRect">
            <a:avLst/>
          </a:prstGeom>
          <a:solidFill>
            <a:srgbClr val="121620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53312"/>
            <a:ext cx="10972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Noto Sans SC"/>
              </a:defRPr>
            </a:pPr>
            <a:r>
              <a:t>⚠️ Ingress NGINX 退役（3/24）</a:t>
            </a:r>
            <a:br/>
            <a:r>
              <a:t>SIG Network + 安全响应委员会联合停止维护。不再发布任何版本、安全漏洞不再修复。现有部署可继续运行，Helm Chart 和镜像不再更新。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1280160"/>
          </a:xfrm>
          <a:prstGeom prst="roundRect">
            <a:avLst/>
          </a:prstGeom>
          <a:solidFill>
            <a:srgbClr val="121620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816352"/>
            <a:ext cx="10972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Noto Sans SC"/>
              </a:defRPr>
            </a:pPr>
            <a:r>
              <a:t>⚠️ Service .spec.externalIPs 废弃（KEP-5707）</a:t>
            </a:r>
            <a:br/>
            <a:r>
              <a:t>长期安全隐患 CVE-2020-8554（中间人攻击）。v1.36 起触发废弃警告，v1.43 完全移除。替代：LoadBalancer / Gateway API / NodePort。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11247120" cy="1280160"/>
          </a:xfrm>
          <a:prstGeom prst="roundRect">
            <a:avLst/>
          </a:prstGeom>
          <a:solidFill>
            <a:srgbClr val="121620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279392"/>
            <a:ext cx="10972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Noto Sans SC"/>
              </a:defRPr>
            </a:pPr>
            <a:r>
              <a:t>⚠️ gitRepo Volume 永久禁用（KEP-5040）</a:t>
            </a:r>
            <a:br/>
            <a:r>
              <a:t>自 v1.11 废弃。攻击者可 root 执行代码。v1.36 起永久禁用且无法启用。替代：Init Container + git-sync。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📦 K8s v1.36 新特性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47120" cy="1554480"/>
          </a:xfrm>
          <a:prstGeom prst="roundRect">
            <a:avLst/>
          </a:prstGeom>
          <a:solidFill>
            <a:srgbClr val="1C2333"/>
          </a:solidFill>
          <a:ln w="12700">
            <a:solidFill>
              <a:srgbClr val="30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5A623"/>
                </a:solidFill>
                <a:latin typeface="Noto Sans SC"/>
              </a:defRPr>
            </a:pPr>
            <a:r>
              <a:t>⚡ SELinux 卷挂载加速 — 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mount -o context=XYZ 替代递归重新标记，减少 Pod 启动延迟。v1.28 beta → v1.36 默认对所有卷生效。注意 mixed privileged/unprivileged Pod 共享卷的冲突。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17520"/>
            <a:ext cx="11247120" cy="1554480"/>
          </a:xfrm>
          <a:prstGeom prst="roundRect">
            <a:avLst/>
          </a:prstGeom>
          <a:solidFill>
            <a:srgbClr val="1C2333"/>
          </a:solidFill>
          <a:ln w="12700">
            <a:solidFill>
              <a:srgbClr val="30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5A623"/>
                </a:solidFill>
                <a:latin typeface="Noto Sans SC"/>
              </a:defRPr>
            </a:pPr>
            <a:r>
              <a:t>🔑 SA Token 外部签名 — 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kube-apiserver 可将 token 签名委托给外部系统（云 KMS、HSM）。提升安全性和密钥管理便利性。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54880"/>
            <a:ext cx="11247120" cy="1554480"/>
          </a:xfrm>
          <a:prstGeom prst="roundRect">
            <a:avLst/>
          </a:prstGeom>
          <a:solidFill>
            <a:srgbClr val="1C2333"/>
          </a:solidFill>
          <a:ln w="12700">
            <a:solidFill>
              <a:srgbClr val="30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5A623"/>
                </a:solidFill>
                <a:latin typeface="Noto Sans SC"/>
              </a:defRPr>
            </a:pPr>
            <a:r>
              <a:t>🎯 DRA 设备 Taint/Toleration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设备管理器可为特定设备设置 Taint，调度器实现精细化设备级调度控制。对 GPU 调度意义重大：可将故障 GPU 标记 Taint 防止调度。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📦 Ingress NGINX 退役：为什么 &amp; 怎么办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5A623"/>
                </a:solidFill>
                <a:latin typeface="Noto Sans SC"/>
              </a:defRPr>
            </a:pPr>
            <a:r>
              <a:t>📢 退役原因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Noto Sans SC"/>
              </a:defRPr>
            </a:pPr>
            <a:r>
              <a:t>&gt; 长期存在未修复的安全漏洞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Noto Sans SC"/>
              </a:defRPr>
            </a:pPr>
            <a:r>
              <a:t>&gt; SIG Network + 安全响应委员会联合决定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Noto Sans SC"/>
              </a:defRPr>
            </a:pPr>
            <a:r>
              <a:t>&gt; 维护资源不足，无法满足安全标准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Noto Sans SC"/>
              </a:defRPr>
            </a:pPr>
            <a:r>
              <a:t>&gt; Ingress API 设计局限性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5A623"/>
                </a:solidFill>
                <a:latin typeface="Noto Sans SC"/>
              </a:defRPr>
            </a:pPr>
            <a:r>
              <a:t>🔄 推荐迁移方案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9164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Noto Sans SC"/>
              </a:defRPr>
            </a:pPr>
            <a:r>
              <a:t>&gt; Gateway API — 官方标准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Noto Sans SC"/>
              </a:defRPr>
            </a:pPr>
            <a:r>
              <a:t>&gt; Envoy Gateway — Gateway API 原生实现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Noto Sans SC"/>
              </a:defRPr>
            </a:pPr>
            <a:r>
              <a:t>&gt; Higress — CNCF AI 网关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Noto Sans SC"/>
              </a:defRPr>
            </a:pPr>
            <a:r>
              <a:t>&gt; Cilium — eBPF 高性能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Noto Sans SC"/>
              </a:defRPr>
            </a:pPr>
            <a:r>
              <a:t>&gt; Istio — 服务 Mesh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29200"/>
            <a:ext cx="11247120" cy="1097280"/>
          </a:xfrm>
          <a:prstGeom prst="roundRect">
            <a:avLst/>
          </a:prstGeom>
          <a:solidFill>
            <a:srgbClr val="1A1812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07492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5A623"/>
                </a:solidFill>
                <a:latin typeface="Noto Sans SC"/>
              </a:defRPr>
            </a:pPr>
            <a:r>
              <a:t>🍒 樱桃的洞察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0352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DDDDDD"/>
                </a:solidFill>
                <a:latin typeface="Noto Sans SC"/>
              </a:defRPr>
            </a:pPr>
            <a:r>
              <a:t>这是教科书级的社区治理案例。安全委员会宁可强制退休也不妥协。对调度层的影响：新的 Gateway 方案（特别是 Higress 的 AI 路由能力）会改变流量入口的资源需求模型。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🤖 AI 模型分发：被忽视的生产瓶颈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48640"/>
          </a:xfrm>
          <a:prstGeom prst="roundRect">
            <a:avLst/>
          </a:prstGeom>
          <a:solidFill>
            <a:srgbClr val="121620"/>
          </a:solidFill>
          <a:ln w="1270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447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Noto Sans SC"/>
              </a:defRPr>
            </a:pPr>
            <a:r>
              <a:t>核心论点：模型的权重文件是连接训练和推理管线的核心产物，但围绕它的基础设施常常是事后才考虑的。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94560"/>
            <a:ext cx="4114800" cy="1645920"/>
          </a:xfrm>
          <a:prstGeom prst="roundRect">
            <a:avLst/>
          </a:prstGeom>
          <a:solidFill>
            <a:srgbClr val="1C2333"/>
          </a:solidFill>
          <a:ln w="12700">
            <a:solidFill>
              <a:srgbClr val="30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326CE5"/>
                </a:solidFill>
                <a:latin typeface="Noto Sans SC"/>
              </a:defRPr>
            </a:pPr>
            <a:r>
              <a:t>140 GB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1752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量化 LLaMA-3 70B</a:t>
            </a:r>
            <a:br/>
            <a:r>
              <a:t>≈ 完整容器镜像仓库规模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194560"/>
            <a:ext cx="4114800" cy="1645920"/>
          </a:xfrm>
          <a:prstGeom prst="roundRect">
            <a:avLst/>
          </a:prstGeom>
          <a:solidFill>
            <a:srgbClr val="1C2333"/>
          </a:solidFill>
          <a:ln w="12700">
            <a:solidFill>
              <a:srgbClr val="30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2860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5A623"/>
                </a:solidFill>
                <a:latin typeface="Noto Sans SC"/>
              </a:defRPr>
            </a:pPr>
            <a:r>
              <a:t>1 TB+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01752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前沿多模态模型</a:t>
            </a:r>
            <a:br/>
            <a:r>
              <a:t>传统下载方式不可行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114800"/>
            <a:ext cx="11247120" cy="640080"/>
          </a:xfrm>
          <a:prstGeom prst="roundRect">
            <a:avLst/>
          </a:prstGeom>
          <a:solidFill>
            <a:srgbClr val="121620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18795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Noto Sans SC"/>
              </a:defRPr>
            </a:pPr>
            <a:r>
              <a:t>对调度的影响：GPU 推理 Pod 在 Init 阶段等模型拉取可能 30 分钟以上。再好的调度策略也无法弥补这个第一公里的延迟。模型分发速度是 GPU 集群资源利用率的隐性天花板。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937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Noto Sans SC"/>
              </a:defRPr>
            </a:pPr>
            <a:r>
              <a:t>传统三条路径：</a:t>
            </a:r>
            <a:br/>
            <a:r>
              <a:t>Git LFS (HF Hub)：版本管理好，但协议适配差  |  S3/MinIO：云原生标准，但缺少版本管理  |  NFS/CephFS：POSIX 兼容，但运维复杂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🤖 云原生模型分发：OCI-Native 全链路方案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Noto Sans SC"/>
              </a:defRPr>
            </a:pPr>
            <a:r>
              <a:t>核心理念：版本化、不可变、GitOps、可审计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11247120" cy="1005840"/>
          </a:xfrm>
          <a:prstGeom prst="roundRect">
            <a:avLst/>
          </a:prstGeom>
          <a:solidFill>
            <a:srgbClr val="121620"/>
          </a:solidFill>
          <a:ln w="12700">
            <a:solidFill>
              <a:srgbClr val="30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79C0FF"/>
                </a:solidFill>
                <a:latin typeface="Noto Sans SC"/>
              </a:defRPr>
            </a:pPr>
            <a:r>
              <a:t>1. modctl modelfile generate → 自动生成 Modelfile</a:t>
            </a:r>
            <a:br/>
            <a:r>
              <a:t>2. modctl build → 打包为 OCI Artifact（ARCH/FAMILY/FORMAT 元数据）</a:t>
            </a:r>
            <a:br/>
            <a:r>
              <a:t>3. modctl push → Harbor → 推送到 Artifact Registry</a:t>
            </a:r>
            <a:br/>
            <a:r>
              <a:t>4. Dragonfly P2P → 集群内节点互相分发</a:t>
            </a:r>
            <a:br/>
            <a:r>
              <a:t>5. K8s OCI Volume / CSI Driver → 模型挂载到推理容器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834640"/>
            <a:ext cx="3611880" cy="1737360"/>
          </a:xfrm>
          <a:prstGeom prst="roundRect">
            <a:avLst/>
          </a:prstGeom>
          <a:solidFill>
            <a:srgbClr val="1C2333"/>
          </a:solidFill>
          <a:ln w="12700">
            <a:solidFill>
              <a:srgbClr val="30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3337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5A623"/>
                </a:solidFill>
                <a:latin typeface="Noto Sans SC"/>
              </a:defRPr>
            </a:pPr>
            <a:r>
              <a:t>📦 ModelPack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46120"/>
            <a:ext cx="33375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Noto Sans SC"/>
              </a:defRPr>
            </a:pPr>
            <a:r>
              <a:t>CLI 工具将模型打包为 OCI Artifact。Manifest 含模型元数据（application/vnd.cncf.model.manifest.v1+json），共用 Registry 基础设施。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834640"/>
            <a:ext cx="3611880" cy="1737360"/>
          </a:xfrm>
          <a:prstGeom prst="roundRect">
            <a:avLst/>
          </a:prstGeom>
          <a:solidFill>
            <a:srgbClr val="1C2333"/>
          </a:solidFill>
          <a:ln w="12700">
            <a:solidFill>
              <a:srgbClr val="30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926080"/>
            <a:ext cx="3337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5A623"/>
                </a:solidFill>
                <a:latin typeface="Noto Sans SC"/>
              </a:defRPr>
            </a:pPr>
            <a:r>
              <a:t>🐘 ORAS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3246120"/>
            <a:ext cx="33375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Noto Sans SC"/>
              </a:defRPr>
            </a:pPr>
            <a:r>
              <a:t>OCI Registry as Storage — 模型作为 OCI Artifact 存储。复用 Registry（Harbor），支持版本管理、签名、RBAC。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834640"/>
            <a:ext cx="3611880" cy="1737360"/>
          </a:xfrm>
          <a:prstGeom prst="roundRect">
            <a:avLst/>
          </a:prstGeom>
          <a:solidFill>
            <a:srgbClr val="1C2333"/>
          </a:solidFill>
          <a:ln w="12700">
            <a:solidFill>
              <a:srgbClr val="30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926080"/>
            <a:ext cx="3337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5A623"/>
                </a:solidFill>
                <a:latin typeface="Noto Sans SC"/>
              </a:defRPr>
            </a:pPr>
            <a:r>
              <a:t>🐉 Dragonfly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246120"/>
            <a:ext cx="33375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Noto Sans SC"/>
              </a:defRPr>
            </a:pPr>
            <a:r>
              <a:t>P2P 分发，集群内节点互相传输。100 节点 140GB 模型从 6+ 小时缩短到 30-45 分钟，提升 8-12 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754880"/>
            <a:ext cx="11247120" cy="1005840"/>
          </a:xfrm>
          <a:prstGeom prst="roundRect">
            <a:avLst/>
          </a:prstGeom>
          <a:solidFill>
            <a:srgbClr val="1A1812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8006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5A623"/>
                </a:solidFill>
                <a:latin typeface="Noto Sans SC"/>
              </a:defRPr>
            </a:pPr>
            <a:r>
              <a:t>🍒 樱桃的洞察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02920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DDDDDD"/>
                </a:solidFill>
                <a:latin typeface="Noto Sans SC"/>
              </a:defRPr>
            </a:pPr>
            <a:r>
              <a:t>方案的精妙之处在于完全复用容器交付基础设施。模型不再是放在 S3 上的大文件，而是与容器镜像享有同等生命周期管理的一等公民。对调度器来说，模型拉取可以像镜像拉取一样被优化和缓存。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🤖 模型分发：传统方案 vs 云原生方案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2286000" cy="502920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79C0FF"/>
                </a:solidFill>
                <a:latin typeface="Noto Sans SC"/>
              </a:defRPr>
            </a:pPr>
            <a:r>
              <a:t>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463040"/>
            <a:ext cx="2286000" cy="502920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146304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79C0FF"/>
                </a:solidFill>
                <a:latin typeface="Noto Sans SC"/>
              </a:defRPr>
            </a:pPr>
            <a:r>
              <a:t>版本管理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463040"/>
            <a:ext cx="2286000" cy="502920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46304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79C0FF"/>
                </a:solidFill>
                <a:latin typeface="Noto Sans SC"/>
              </a:defRPr>
            </a:pPr>
            <a:r>
              <a:t>分发效率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463040"/>
            <a:ext cx="2286000" cy="502920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46304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79C0FF"/>
                </a:solidFill>
                <a:latin typeface="Noto Sans SC"/>
              </a:defRPr>
            </a:pPr>
            <a:r>
              <a:t>K8s 原生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1463040"/>
            <a:ext cx="2286000" cy="502920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146304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79C0FF"/>
                </a:solidFill>
                <a:latin typeface="Noto Sans SC"/>
              </a:defRPr>
            </a:pPr>
            <a:r>
              <a:t>供应链安全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Git LFS (HF Hub)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✅ 原生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❌ 协议适配差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⚠️ 有限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46888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S3 / MinIO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46888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❌ 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46888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⚠️ 带宽瓶颈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46888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⚠️ 需适配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46888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❌ 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97180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NFS / CephFS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297180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❌ 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297180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⚠️ 运维复杂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97180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⚠️ 需适配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297180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❌ 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474720"/>
            <a:ext cx="2286000" cy="502920"/>
          </a:xfrm>
          <a:prstGeom prst="rect">
            <a:avLst/>
          </a:prstGeom>
          <a:solidFill>
            <a:srgbClr val="2A2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47472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3B341"/>
                </a:solidFill>
                <a:latin typeface="Noto Sans SC"/>
              </a:defRPr>
            </a:pPr>
            <a:r>
              <a:t>ModelPack + ORAS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3474720"/>
            <a:ext cx="2286000" cy="502920"/>
          </a:xfrm>
          <a:prstGeom prst="rect">
            <a:avLst/>
          </a:prstGeom>
          <a:solidFill>
            <a:srgbClr val="2A2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347472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3B341"/>
                </a:solidFill>
                <a:latin typeface="Noto Sans SC"/>
              </a:defRPr>
            </a:pPr>
            <a:r>
              <a:t>✅ OCI 标准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0" y="3474720"/>
            <a:ext cx="2286000" cy="502920"/>
          </a:xfrm>
          <a:prstGeom prst="rect">
            <a:avLst/>
          </a:prstGeom>
          <a:solidFill>
            <a:srgbClr val="2A2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347472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3B341"/>
                </a:solidFill>
                <a:latin typeface="Noto Sans SC"/>
              </a:defRPr>
            </a:pPr>
            <a:r>
              <a:t>✅ Registry+P2P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3474720"/>
            <a:ext cx="2286000" cy="502920"/>
          </a:xfrm>
          <a:prstGeom prst="rect">
            <a:avLst/>
          </a:prstGeom>
          <a:solidFill>
            <a:srgbClr val="2A2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0" y="347472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3B341"/>
                </a:solidFill>
                <a:latin typeface="Noto Sans SC"/>
              </a:defRPr>
            </a:pPr>
            <a:r>
              <a:t>✅ 原生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0" y="3474720"/>
            <a:ext cx="2286000" cy="502920"/>
          </a:xfrm>
          <a:prstGeom prst="rect">
            <a:avLst/>
          </a:prstGeom>
          <a:solidFill>
            <a:srgbClr val="2A2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0" y="347472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3B341"/>
                </a:solidFill>
                <a:latin typeface="Noto Sans SC"/>
              </a:defRPr>
            </a:pPr>
            <a:r>
              <a:t>✅ cosign/SLSA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206240"/>
            <a:ext cx="11247120" cy="640080"/>
          </a:xfrm>
          <a:prstGeom prst="roundRect">
            <a:avLst/>
          </a:prstGeom>
          <a:solidFill>
            <a:srgbClr val="121620"/>
          </a:solidFill>
          <a:ln w="1270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42793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Noto Sans SC"/>
              </a:defRPr>
            </a:pPr>
            <a:r>
              <a:t>关键差异：传统方案将模型视为文件，云原生方案将模型视为 Artifact。带来整个交付流程的标准化 — CI/CD 到部署到回滚。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029200"/>
            <a:ext cx="11247120" cy="640080"/>
          </a:xfrm>
          <a:prstGeom prst="roundRect">
            <a:avLst/>
          </a:prstGeom>
          <a:solidFill>
            <a:srgbClr val="121620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510235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Noto Sans SC"/>
              </a:defRPr>
            </a:pPr>
            <a:r>
              <a:t>实际收益：100 节点集群 140GB 模型，传统串行 6+ 小时，Dragonfly P2P 30-45 分钟，提升 8-12 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🖥️ KubeVirt v1.8：VM 场景的 AI 性能突破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47120" cy="960120"/>
          </a:xfrm>
          <a:prstGeom prst="roundRect">
            <a:avLst/>
          </a:prstGeom>
          <a:solidFill>
            <a:srgbClr val="1C2333"/>
          </a:solidFill>
          <a:ln w="12700">
            <a:solidFill>
              <a:srgbClr val="30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  <a:latin typeface="Noto Sans SC"/>
              </a:defRPr>
            </a:pPr>
            <a:r>
              <a:t>🔥 PCIe NUMA 拓扑感知（AI/HPC 重点）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Noto Sans SC"/>
              </a:defRPr>
            </a:pPr>
            <a:r>
              <a:t>VM 中 AI/HPC 获接近裸金属性能。GPU 通过 PCIe 连接，跨 NUMA 节点延迟高 2-3 倍。8×A100/H100 服务器上，vCPU/内存不在 GPU NUMA 节点 = 推理延迟显著增加。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40280"/>
            <a:ext cx="11247120" cy="960120"/>
          </a:xfrm>
          <a:prstGeom prst="roundRect">
            <a:avLst/>
          </a:prstGeom>
          <a:solidFill>
            <a:srgbClr val="1C2333"/>
          </a:solidFill>
          <a:ln w="12700">
            <a:solidFill>
              <a:srgbClr val="30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  <a:latin typeface="Noto Sans SC"/>
              </a:defRPr>
            </a:pPr>
            <a:r>
              <a:t>🔐 Intel TDX 机密计算认证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Noto Sans SC"/>
              </a:defRPr>
            </a:pPr>
            <a:r>
              <a:t>Confidential Computing WG 引入 TDX Attestation。VM 可证明运行在可信硬件上。模型权重在 VM 内对云厂商不可见。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91840"/>
            <a:ext cx="11247120" cy="960120"/>
          </a:xfrm>
          <a:prstGeom prst="roundRect">
            <a:avLst/>
          </a:prstGeom>
          <a:solidFill>
            <a:srgbClr val="1C2333"/>
          </a:solidFill>
          <a:ln w="12700">
            <a:solidFill>
              <a:srgbClr val="30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  <a:latin typeface="Noto Sans SC"/>
              </a:defRPr>
            </a:pPr>
            <a:r>
              <a:t>🧩 Hypervisor 抽象层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Noto Sans SC"/>
              </a:defRPr>
            </a:pPr>
            <a:r>
              <a:t>可集成 KVM 以外的虚拟化后端（QEMU、Firecracker），保持 KVM 默认。为多云虚拟化铺路。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43400"/>
            <a:ext cx="11247120" cy="960120"/>
          </a:xfrm>
          <a:prstGeom prst="roundRect">
            <a:avLst/>
          </a:prstGeom>
          <a:solidFill>
            <a:srgbClr val="1C2333"/>
          </a:solidFill>
          <a:ln w="12700">
            <a:solidFill>
              <a:srgbClr val="30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  <a:latin typeface="Noto Sans SC"/>
              </a:defRPr>
            </a:pPr>
            <a:r>
              <a:t>💾 增量备份 CBT + ContainerPath Volume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Noto Sans SC"/>
              </a:defRPr>
            </a:pPr>
            <a:r>
              <a:t>基于 QEMU/libvirt 的 Changed Block Tracking，存储无关。只捕获修改数据，大幅减少备份窗口和存储占用。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394960"/>
            <a:ext cx="11247120" cy="960120"/>
          </a:xfrm>
          <a:prstGeom prst="roundRect">
            <a:avLst/>
          </a:prstGeom>
          <a:solidFill>
            <a:srgbClr val="1C2333"/>
          </a:solidFill>
          <a:ln w="12700">
            <a:solidFill>
              <a:srgbClr val="30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4406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  <a:latin typeface="Noto Sans SC"/>
              </a:defRPr>
            </a:pPr>
            <a:r>
              <a:t>📊 性能基准（SIG Scale）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150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Noto Sans SC"/>
              </a:defRPr>
            </a:pPr>
            <a:r>
              <a:t>KWOK 测试扩展至 8000 VMI。virt-api: 3.89 KB/VMI，virt-controller: 173 KB/VMI。控制面在规模增长时稳定。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🛡️ Kubescape 4.0：运行时安全 GA + AI Agent 安全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47120" cy="1234440"/>
          </a:xfrm>
          <a:prstGeom prst="roundRect">
            <a:avLst/>
          </a:prstGeom>
          <a:solidFill>
            <a:srgbClr val="1C2333"/>
          </a:solidFill>
          <a:ln w="12700">
            <a:solidFill>
              <a:srgbClr val="30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  <a:latin typeface="Noto Sans SC"/>
              </a:defRPr>
            </a:pPr>
            <a:r>
              <a:t>🔍 运行时威胁检测 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Noto Sans SC"/>
              </a:defRPr>
            </a:pPr>
            <a:r>
              <a:t>基于 CEL 规则引擎，实时监控：进程/capabilities/syscall、TCP/UDP/HTTP、文件系统。规则和 RuleBinding 作为 CRD 管理，告警导出到 AlertManager/SIEM/Syslog/Webhook。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11247120" cy="1234440"/>
          </a:xfrm>
          <a:prstGeom prst="roundRect">
            <a:avLst/>
          </a:prstGeom>
          <a:solidFill>
            <a:srgbClr val="1C2333"/>
          </a:solidFill>
          <a:ln w="12700">
            <a:solidFill>
              <a:srgbClr val="30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  <a:latin typeface="Noto Sans SC"/>
              </a:defRPr>
            </a:pPr>
            <a:r>
              <a:t>💾 Storage GA — Aggregated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Noto Sans SC"/>
              </a:defRPr>
            </a:pPr>
            <a:r>
              <a:t>Application Profiles、SBOM、漏洞 Manifest 不存入 etcd，避免压垮核心数据库。已在大规模高密度集群验证。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11247120" cy="1234440"/>
          </a:xfrm>
          <a:prstGeom prst="roundRect">
            <a:avLst/>
          </a:prstGeom>
          <a:solidFill>
            <a:srgbClr val="1C2333"/>
          </a:solidFill>
          <a:ln w="12700">
            <a:solidFill>
              <a:srgbClr val="30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776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  <a:latin typeface="Noto Sans SC"/>
              </a:defRPr>
            </a:pPr>
            <a:r>
              <a:t>🤖 AI Agent 安全：双面盾牌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Noto Sans SC"/>
              </a:defRPr>
            </a:pPr>
            <a:r>
              <a:t>赋能：KAgent-native 插件让 AI Agent 扫描集群（漏洞、RBAC、运行时行为）。监管：KAgent 42 个安全检查点 + 15 个 Rego 规则。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303520"/>
            <a:ext cx="11247120" cy="1234440"/>
          </a:xfrm>
          <a:prstGeom prst="roundRect">
            <a:avLst/>
          </a:prstGeom>
          <a:solidFill>
            <a:srgbClr val="1C2333"/>
          </a:solidFill>
          <a:ln w="12700">
            <a:solidFill>
              <a:srgbClr val="30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3492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  <a:latin typeface="Noto Sans SC"/>
              </a:defRPr>
            </a:pPr>
            <a:r>
              <a:t>🏗️ 架构简化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235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Noto Sans SC"/>
              </a:defRPr>
            </a:pPr>
            <a:r>
              <a:t>移除 host-sensor，将 host-agent 集成到 node-agent。两个高权限组件合并为一个，审计更清晰。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🤖 Agent Sandbox：K8s 官方 AI Agent 托管方案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640080"/>
          </a:xfrm>
          <a:prstGeom prst="roundRect">
            <a:avLst/>
          </a:prstGeom>
          <a:solidFill>
            <a:srgbClr val="121620"/>
          </a:solidFill>
          <a:ln w="1270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4475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Noto Sans SC"/>
              </a:defRPr>
            </a:pPr>
            <a:r>
              <a:t>核心问题：AI Agent 从短命无状态推理转向长驻有状态自主执行。需持久身份、安全沙箱、空闲后快速唤醒。传统 K8s 原语（StatefulSet+PVC+Headless Service）无法优雅表达。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11247120" cy="1554480"/>
          </a:xfrm>
          <a:prstGeom prst="roundRect">
            <a:avLst/>
          </a:prstGeom>
          <a:solidFill>
            <a:srgbClr val="1C2333"/>
          </a:solidFill>
          <a:ln w="12700">
            <a:solidFill>
              <a:srgbClr val="30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5A623"/>
                </a:solidFill>
                <a:latin typeface="Noto Sans SC"/>
              </a:defRPr>
            </a:pPr>
            <a:r>
              <a:t>📦 Sandbox CRD — 三大核心能力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Noto Sans SC"/>
              </a:defRPr>
            </a:pPr>
            <a:r>
              <a:t>&gt; 强隔离运行时 — 原生支持 gVisor 和 Kata Containers，内核级和网络级隔离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Noto Sans SC"/>
              </a:defRPr>
            </a:pPr>
            <a:r>
              <a:t>&gt; 生命周期管理 — 缩放到零（Scale to Zero），空闲释放资源，需要时快速恢复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Noto Sans SC"/>
              </a:defRPr>
            </a:pPr>
            <a:r>
              <a:t>&gt; 稳定网络标识 — 每个 Sandbox 有稳定 hostname，支持多 Agent 协同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11247120" cy="1097280"/>
          </a:xfrm>
          <a:prstGeom prst="roundRect">
            <a:avLst/>
          </a:prstGeom>
          <a:solidFill>
            <a:srgbClr val="1C2333"/>
          </a:solidFill>
          <a:ln w="12700">
            <a:solidFill>
              <a:srgbClr val="30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5A623"/>
                </a:solidFill>
                <a:latin typeface="Noto Sans SC"/>
              </a:defRPr>
            </a:pPr>
            <a:r>
              <a:t>⚡ SandboxWarmPool — 消除冷启动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4340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传统 Pod 启动 ~1s 对 AI Agent 交互连续性是致命的。SandboxWarmPool 维护预热 Pod 池，SandboxClaim + SandboxTemplate 即刻获取。冷启动从 ~1s 降至 ~0。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212080"/>
            <a:ext cx="11247120" cy="914400"/>
          </a:xfrm>
          <a:prstGeom prst="roundRect">
            <a:avLst/>
          </a:prstGeom>
          <a:solidFill>
            <a:srgbClr val="1A1812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5257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5A623"/>
                </a:solidFill>
                <a:latin typeface="Noto Sans SC"/>
              </a:defRPr>
            </a:pPr>
            <a:r>
              <a:t>🍒 樱桃的洞察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4864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DDDDDD"/>
                </a:solidFill>
                <a:latin typeface="Noto Sans SC"/>
              </a:defRPr>
            </a:pPr>
            <a:r>
              <a:t>SIG Apps 专门为 AI Agent 设计新 CRD，说明 K8s 社区已认可 AI Agent 是独立工作负载类型。SandboxWarmPool（预热池+即时分配）与 GPU 推理的 Model Serving 异曲同工。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🧪 Lima v2.1 + 🔄 Image Promoter 重写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5A623"/>
                </a:solidFill>
                <a:latin typeface="Noto Sans SC"/>
              </a:defRPr>
            </a:pPr>
            <a:r>
              <a:t>🧪 Lima v2.1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8B949E"/>
                </a:solidFill>
                <a:latin typeface="Noto Sans SC"/>
              </a:defRPr>
            </a:pPr>
            <a:r>
              <a:t>&gt; macOS 客户机（实验性）— Apple Silicon</a:t>
            </a:r>
          </a:p>
          <a:p>
            <a:pPr>
              <a:spcAft>
                <a:spcPts val="400"/>
              </a:spcAft>
              <a:defRPr sz="1300">
                <a:solidFill>
                  <a:srgbClr val="8B949E"/>
                </a:solidFill>
                <a:latin typeface="Noto Sans SC"/>
              </a:defRPr>
            </a:pPr>
            <a:r>
              <a:t>&gt; FreeBSD 客户机（实验性）</a:t>
            </a:r>
          </a:p>
          <a:p>
            <a:pPr>
              <a:spcAft>
                <a:spcPts val="400"/>
              </a:spcAft>
              <a:defRPr sz="1300">
                <a:solidFill>
                  <a:srgbClr val="8B949E"/>
                </a:solidFill>
                <a:latin typeface="Noto Sans SC"/>
              </a:defRPr>
            </a:pPr>
            <a:r>
              <a:t>&gt; guestagent 从 14MB 缩减到 6.1MB（-56%）</a:t>
            </a:r>
          </a:p>
          <a:p>
            <a:pPr>
              <a:spcAft>
                <a:spcPts val="400"/>
              </a:spcAft>
              <a:defRPr sz="1300">
                <a:solidFill>
                  <a:srgbClr val="8B949E"/>
                </a:solidFill>
                <a:latin typeface="Noto Sans SC"/>
              </a:defRPr>
            </a:pPr>
            <a:r>
              <a:t>&gt; k3s 模板支持多节点集群</a:t>
            </a:r>
          </a:p>
          <a:p>
            <a:pPr>
              <a:spcAft>
                <a:spcPts val="400"/>
              </a:spcAft>
              <a:defRPr sz="1300">
                <a:solidFill>
                  <a:srgbClr val="8B949E"/>
                </a:solidFill>
                <a:latin typeface="Noto Sans SC"/>
              </a:defRPr>
            </a:pPr>
            <a:r>
              <a:t>&gt; --sync 模式：AI Agent 安全沙箱</a:t>
            </a:r>
          </a:p>
          <a:p>
            <a:pPr>
              <a:spcAft>
                <a:spcPts val="400"/>
              </a:spcAft>
              <a:defRPr sz="1300">
                <a:solidFill>
                  <a:srgbClr val="8B949E"/>
                </a:solidFill>
                <a:latin typeface="Noto Sans SC"/>
              </a:defRPr>
            </a:pPr>
            <a:r>
              <a:t>&gt; Agent 完成后弹出确认提示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5A623"/>
                </a:solidFill>
                <a:latin typeface="Noto Sans SC"/>
              </a:defRPr>
            </a:pPr>
            <a:r>
              <a:t>🔄 Image Promoter 9 阶段重写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00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  <a:latin typeface="Noto Sans SC"/>
              </a:defRPr>
            </a:pPr>
            <a:r>
              <a:t>&gt; P1: Rate Limiting 自适应退避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  <a:latin typeface="Noto Sans SC"/>
              </a:defRPr>
            </a:pPr>
            <a:r>
              <a:t>&gt; P2: 接口抽象 可替换可测试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  <a:latin typeface="Noto Sans SC"/>
              </a:defRPr>
            </a:pPr>
            <a:r>
              <a:t>&gt; P3: 流水线引擎 分阶段执行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  <a:latin typeface="Noto Sans SC"/>
              </a:defRPr>
            </a:pPr>
            <a:r>
              <a:t>&gt; P4: SLSA Provenance 验证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  <a:latin typeface="Noto Sans SC"/>
              </a:defRPr>
            </a:pPr>
            <a:r>
              <a:t>&gt; P5: 漏洞扫描 + SBOM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  <a:latin typeface="Noto Sans SC"/>
              </a:defRPr>
            </a:pPr>
            <a:r>
              <a:t>&gt; P6: 签名与复制分离（关键！）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  <a:latin typeface="Noto Sans SC"/>
              </a:defRPr>
            </a:pPr>
            <a:r>
              <a:t>&gt; P7-P9: 删除旧代码</a:t>
            </a:r>
          </a:p>
          <a:p>
            <a:pPr>
              <a:spcAft>
                <a:spcPts val="400"/>
              </a:spcAft>
              <a:defRPr sz="1200">
                <a:solidFill>
                  <a:srgbClr val="8B949E"/>
                </a:solidFill>
                <a:latin typeface="Noto Sans SC"/>
              </a:defRPr>
            </a:pPr>
            <a:r>
              <a:t>&gt; 结果：删除 20% 代码，性能大幅提升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11247120" cy="914400"/>
          </a:xfrm>
          <a:prstGeom prst="roundRect">
            <a:avLst/>
          </a:prstGeom>
          <a:solidFill>
            <a:srgbClr val="1A1812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16052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5A623"/>
                </a:solidFill>
                <a:latin typeface="Noto Sans SC"/>
              </a:defRPr>
            </a:pPr>
            <a:r>
              <a:t>🍒 樱桃的洞察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3891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DDDDDD"/>
                </a:solidFill>
                <a:latin typeface="Noto Sans SC"/>
              </a:defRPr>
            </a:pPr>
            <a:r>
              <a:t>Image Promoter 的渐进式重写策略值得借鉴 — 9 个阶段每个独立 review 和验证，生产环境无缝切换。Phase 6 签名与复制分离消除了大部分生产故障。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🔥 值得关注的 GitHub 项目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2011680" cy="502920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79C0FF"/>
                </a:solidFill>
                <a:latin typeface="Noto Sans SC"/>
              </a:defRPr>
            </a:pPr>
            <a:r>
              <a:t>项目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8880" y="1463040"/>
            <a:ext cx="1371600" cy="502920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1463040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79C0FF"/>
                </a:solidFill>
                <a:latin typeface="Noto Sans SC"/>
              </a:defRPr>
            </a:pPr>
            <a:r>
              <a:t>Stars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1463040"/>
            <a:ext cx="3657600" cy="502920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146304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79C0FF"/>
                </a:solidFill>
                <a:latin typeface="Noto Sans SC"/>
              </a:defRPr>
            </a:pPr>
            <a:r>
              <a:t>定位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0" y="1463040"/>
            <a:ext cx="4206240" cy="502920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0" y="1463040"/>
            <a:ext cx="4206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79C0FF"/>
                </a:solidFill>
                <a:latin typeface="Noto Sans SC"/>
              </a:defRPr>
            </a:pPr>
            <a:r>
              <a:t>关联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6596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8B949E"/>
                </a:solidFill>
                <a:latin typeface="Noto Sans SC"/>
              </a:defRPr>
            </a:pPr>
            <a:r>
              <a:t>KAI-Scheduler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1965960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⭐ 1,220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196596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K8s 原生 AI 调度器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1965960"/>
            <a:ext cx="4206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拓扑感知、Gang 调度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46888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8B949E"/>
                </a:solidFill>
                <a:latin typeface="Noto Sans SC"/>
              </a:defRPr>
            </a:pPr>
            <a:r>
              <a:t>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468880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⭐ 412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46888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LLM serving + GPU 调度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2468880"/>
            <a:ext cx="4206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SGLang 团队出品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7180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8B949E"/>
                </a:solidFill>
                <a:latin typeface="Noto Sans SC"/>
              </a:defRPr>
            </a:pPr>
            <a:r>
              <a:t>Grove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2971800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⭐ 183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97180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网络拓扑感知 Gang 调度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2971800"/>
            <a:ext cx="4206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AI 推理分布式调度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47472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8B949E"/>
                </a:solidFill>
                <a:latin typeface="Noto Sans SC"/>
              </a:defRPr>
            </a:pPr>
            <a:r>
              <a:t>DanteGPU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3474720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⭐ 73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347472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分布式 GPU 网络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3474720"/>
            <a:ext cx="4206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GPU 互联与调度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97764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8B949E"/>
                </a:solidFill>
                <a:latin typeface="Noto Sans SC"/>
              </a:defRPr>
            </a:pPr>
            <a:r>
              <a:t>Agent Sandbox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3977640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SIG Apps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397764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K8s AI Agent 托管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0" y="3977640"/>
            <a:ext cx="4206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官方 gVisor/Kata 隔离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114800"/>
            <a:ext cx="11247120" cy="640080"/>
          </a:xfrm>
          <a:prstGeom prst="roundRect">
            <a:avLst/>
          </a:prstGeom>
          <a:solidFill>
            <a:srgbClr val="121620"/>
          </a:solidFill>
          <a:ln w="1270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18795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Noto Sans SC"/>
              </a:defRPr>
            </a:pPr>
            <a:r>
              <a:t>趋势信号：AI 调度器正从通用调度器+插件转向专用 AI 调度器。KAI-Scheduler/OME/Grove 都是独立实现，非 kube-scheduler 扩展。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📈 趋势一：AI on K8s 从实验走向标准化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2697480" cy="2194560"/>
          </a:xfrm>
          <a:prstGeom prst="roundRect">
            <a:avLst/>
          </a:prstGeom>
          <a:solidFill>
            <a:srgbClr val="1C2333"/>
          </a:solidFill>
          <a:ln w="12700">
            <a:solidFill>
              <a:srgbClr val="30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5A623"/>
                </a:solidFill>
                <a:latin typeface="Noto Sans SC"/>
              </a:defRPr>
            </a:pPr>
            <a:r>
              <a:t>📦 模型层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4231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ModelPack + ORAS + Dragonfly</a:t>
            </a:r>
            <a:br/>
            <a:r>
              <a:t>标准化模型分发管线</a:t>
            </a:r>
            <a:br/>
            <a:r>
              <a:t>模型=OCI Artifact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280160"/>
            <a:ext cx="2697480" cy="2194560"/>
          </a:xfrm>
          <a:prstGeom prst="roundRect">
            <a:avLst/>
          </a:prstGeom>
          <a:solidFill>
            <a:srgbClr val="1C2333"/>
          </a:solidFill>
          <a:ln w="12700">
            <a:solidFill>
              <a:srgbClr val="30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37160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5A623"/>
                </a:solidFill>
                <a:latin typeface="Noto Sans SC"/>
              </a:defRPr>
            </a:pPr>
            <a:r>
              <a:t>🖥️ 硬件层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737360"/>
            <a:ext cx="24231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KubeVirt NUMA 感知</a:t>
            </a:r>
            <a:br/>
            <a:r>
              <a:t>DRA 设备 Taint</a:t>
            </a:r>
            <a:br/>
            <a:r>
              <a:t>硬件感知调度内置化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2697480" cy="2194560"/>
          </a:xfrm>
          <a:prstGeom prst="roundRect">
            <a:avLst/>
          </a:prstGeom>
          <a:solidFill>
            <a:srgbClr val="1C2333"/>
          </a:solidFill>
          <a:ln w="12700">
            <a:solidFill>
              <a:srgbClr val="30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7160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5A623"/>
                </a:solidFill>
                <a:latin typeface="Noto Sans SC"/>
              </a:defRPr>
            </a:pPr>
            <a:r>
              <a:t>🤖 Agent 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37360"/>
            <a:ext cx="24231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Agent Sandbox + Kubescape</a:t>
            </a:r>
            <a:br/>
            <a:r>
              <a:t>安全沙箱+安全扫描</a:t>
            </a:r>
            <a:br/>
            <a:r>
              <a:t>Agent=独立工作负载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1280160"/>
            <a:ext cx="2697480" cy="2194560"/>
          </a:xfrm>
          <a:prstGeom prst="roundRect">
            <a:avLst/>
          </a:prstGeom>
          <a:solidFill>
            <a:srgbClr val="1C2333"/>
          </a:solidFill>
          <a:ln w="12700">
            <a:solidFill>
              <a:srgbClr val="30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137160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5A623"/>
                </a:solidFill>
                <a:latin typeface="Noto Sans SC"/>
              </a:defRPr>
            </a:pPr>
            <a:r>
              <a:t>🔀 网关层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1737360"/>
            <a:ext cx="24231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Higress CNCF + NGINX 退役</a:t>
            </a:r>
            <a:br/>
            <a:r>
              <a:t>AI 推理需要智能网关</a:t>
            </a:r>
            <a:br/>
            <a:r>
              <a:t>模型路由/限流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39"/>
            <a:ext cx="11247120" cy="914400"/>
          </a:xfrm>
          <a:prstGeom prst="roundRect">
            <a:avLst/>
          </a:prstGeom>
          <a:solidFill>
            <a:srgbClr val="1A1812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794759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5A623"/>
                </a:solidFill>
                <a:latin typeface="Noto Sans SC"/>
              </a:defRPr>
            </a:pPr>
            <a:r>
              <a:t>🍒 樱桃的洞察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023359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DDDDDD"/>
                </a:solidFill>
                <a:latin typeface="Noto Sans SC"/>
              </a:defRPr>
            </a:pPr>
            <a:r>
              <a:t>一年前 AI on K8s 需要各种拼凑。现在从模型打包（ModelPack）到分发（Dragonfly）到安全（Kubescape）到托管（Agent Sandbox），每个环节都有 CNCF 级别标准方案。生态成熟速度超出预期。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📈 趋势二：安全纵深防御 &amp; 旧标准加速淘汰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5A623"/>
                </a:solidFill>
                <a:latin typeface="Noto Sans SC"/>
              </a:defRPr>
            </a:pPr>
            <a:r>
              <a:t>🔒 安全纵深防御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Noto Sans SC"/>
              </a:defRPr>
            </a:pPr>
            <a:r>
              <a:t>&gt; 运行时安全 GA — 从静态到实时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Noto Sans SC"/>
              </a:defRPr>
            </a:pPr>
            <a:r>
              <a:t>&gt; 机密计算 — KubeVirt TDX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Noto Sans SC"/>
              </a:defRPr>
            </a:pPr>
            <a:r>
              <a:t>&gt; AI Agent 安全 — 42 检查点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Noto Sans SC"/>
              </a:defRPr>
            </a:pPr>
            <a:r>
              <a:t>&gt; 供应链安全 — SLSA 成标配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Noto Sans SC"/>
              </a:defRPr>
            </a:pPr>
            <a:r>
              <a:t>&gt; 本地沙箱 — Lima --sync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5A623"/>
                </a:solidFill>
                <a:latin typeface="Noto Sans SC"/>
              </a:defRPr>
            </a:pPr>
            <a:r>
              <a:t>🏗️ 旧标准淘汰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916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Noto Sans SC"/>
              </a:defRPr>
            </a:pPr>
            <a:r>
              <a:t>&gt; Ingress NGINX — 安全漏洞退役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Noto Sans SC"/>
              </a:defRPr>
            </a:pPr>
            <a:r>
              <a:t>&gt; externalIPs — CVE 废弃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Noto Sans SC"/>
              </a:defRPr>
            </a:pPr>
            <a:r>
              <a:t>&gt; gitRepo Volume — 永久禁用</a:t>
            </a:r>
          </a:p>
          <a:p>
            <a:pPr>
              <a:spcAft>
                <a:spcPts val="400"/>
              </a:spcAft>
              <a:defRPr sz="1400">
                <a:solidFill>
                  <a:srgbClr val="8B949E"/>
                </a:solidFill>
                <a:latin typeface="Noto Sans SC"/>
              </a:defRPr>
            </a:pPr>
            <a:r>
              <a:t>&gt; host-sensor — 移除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200400"/>
            <a:ext cx="5303520" cy="640080"/>
          </a:xfrm>
          <a:prstGeom prst="roundRect">
            <a:avLst/>
          </a:prstGeom>
          <a:solidFill>
            <a:srgbClr val="121620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3273552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Noto Sans SC"/>
              </a:defRPr>
            </a:pPr>
            <a:r>
              <a:t>共同特征：都源于安全问题而非功能不足。社区用安全不达标就淘汰的标准审视每个组件。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🍒 樱桃的深度总结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47120" cy="1234440"/>
          </a:xfrm>
          <a:prstGeom prst="roundRect">
            <a:avLst/>
          </a:prstGeom>
          <a:solidFill>
            <a:srgbClr val="1C2333"/>
          </a:solidFill>
          <a:ln w="12700">
            <a:solidFill>
              <a:srgbClr val="895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8957E5"/>
                </a:solidFill>
                <a:latin typeface="Noto Sans SC"/>
              </a:defRPr>
            </a:pPr>
            <a:r>
              <a:t>洞察 1：模型分发是 AI 调度的第一公里瓶颈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Noto Sans SC"/>
              </a:defRPr>
            </a:pPr>
            <a:r>
              <a:t>不是算法不够好，而是模型没到位。140GB 让 Pod 干等 30 分钟。ModelPack + Dragonfly OCI-native 方案最务实，建议 GPU 推理团队立即评估。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11247120" cy="1234440"/>
          </a:xfrm>
          <a:prstGeom prst="roundRect">
            <a:avLst/>
          </a:prstGeom>
          <a:solidFill>
            <a:srgbClr val="1C2333"/>
          </a:solidFill>
          <a:ln w="1270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2EA043"/>
                </a:solidFill>
                <a:latin typeface="Noto Sans SC"/>
              </a:defRPr>
            </a:pPr>
            <a:r>
              <a:t>洞察 2：NUMA 感知从优化变成必需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10881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Noto Sans SC"/>
              </a:defRPr>
            </a:pPr>
            <a:r>
              <a:t>KubeVirt NUMA + DRA Taint，K8s 核心内化硬件感知调度。8×GPU 服务器跨 NUMA 延迟 2-3 倍直接决定用户体验。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11247120" cy="1234440"/>
          </a:xfrm>
          <a:prstGeom prst="roundRect">
            <a:avLst/>
          </a:prstGeom>
          <a:solidFill>
            <a:srgbClr val="1C233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776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  <a:latin typeface="Noto Sans SC"/>
              </a:defRPr>
            </a:pPr>
            <a:r>
              <a:t>洞察 3：AI Agent 是 K8s 新工作负载类型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0881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Noto Sans SC"/>
              </a:defRPr>
            </a:pPr>
            <a:r>
              <a:t>Agent Sandbox 是 SIG Apps 对 AI Agent=新工作负载的正式认可。长驻、有状态、可缩放到零。调度器可能需要专门策略。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303520"/>
            <a:ext cx="11247120" cy="1234440"/>
          </a:xfrm>
          <a:prstGeom prst="roundRect">
            <a:avLst/>
          </a:prstGeom>
          <a:solidFill>
            <a:srgbClr val="1C2333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3492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85149"/>
                </a:solidFill>
                <a:latin typeface="Noto Sans SC"/>
              </a:defRPr>
            </a:pPr>
            <a:r>
              <a:t>洞察 4：安全零容忍重塑生态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69280"/>
            <a:ext cx="10881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Noto Sans SC"/>
              </a:defRPr>
            </a:pPr>
            <a:r>
              <a:t>NGINX 退役、gitRepo 禁用、host-sensor 移除 — 安全不达标就不留。AI 推理场景模型文件是高价值攻击目标。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✅ 本周行动建议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Noto Sans SC"/>
              </a:defRPr>
            </a:pPr>
            <a:r>
              <a:t>🔧 评估 Ingress 迁移 — 测试 Gateway API + Higress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Noto Sans SC"/>
              </a:defRPr>
            </a:pPr>
            <a:r>
              <a:t>🐉 部署 Dragonfly — GPU 推理集群测试 P2P 分发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Noto Sans SC"/>
              </a:defRPr>
            </a:pPr>
            <a:r>
              <a:t>📦 试用 ModelPack — modctl 打包模型为 OCI 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71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Noto Sans SC"/>
              </a:defRPr>
            </a:pPr>
            <a:r>
              <a:t>🤖 关注 Agent Sandbox — 试用 Sandbox CRD + WarmPool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Noto Sans SC"/>
              </a:defRPr>
            </a:pPr>
            <a:r>
              <a:t>🛡️ 试点 Kubescape 4.0 — 启用运行时威胁检测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Noto Sans SC"/>
              </a:defRPr>
            </a:pPr>
            <a:r>
              <a:t>📊 调研 KAI-Scheduler — 评估 AI Gang 调度拓扑感知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Noto Sans SC"/>
              </a:defRPr>
            </a:pPr>
            <a:r>
              <a:t>⚠️ 审计 externalIPs — 规划迁移（v1.43 前有窗口）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486400"/>
            <a:ext cx="11247120" cy="457200"/>
          </a:xfrm>
          <a:prstGeom prst="roundRect">
            <a:avLst/>
          </a:prstGeom>
          <a:solidFill>
            <a:srgbClr val="152515"/>
          </a:solidFill>
          <a:ln w="1270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7EE787"/>
                </a:solidFill>
                <a:latin typeface="Noto Sans SC"/>
              </a:defRPr>
            </a:pPr>
            <a:r>
              <a:t>优先级：Ingress 迁移 &gt; Dragonfly &gt; Kubescape &gt; ModelPack &gt; Agent Sandbox &gt; KAI-Scheduler &gt; externalIPs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6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0">
                <a:solidFill>
                  <a:srgbClr val="FFFFFF"/>
                </a:solidFill>
                <a:latin typeface="Noto Sans SC"/>
              </a:defRPr>
            </a:pPr>
            <a:r>
              <a:t>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6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Noto Sans SC"/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91840"/>
            <a:ext cx="1216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8B949E"/>
                </a:solidFill>
                <a:latin typeface="Noto Sans SC"/>
              </a:defRPr>
            </a:pPr>
            <a:r>
              <a:t>每日云原生要闻 · 深度解读版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389120"/>
            <a:ext cx="1216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333333"/>
                </a:solidFill>
                <a:latin typeface="Noto Sans SC"/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